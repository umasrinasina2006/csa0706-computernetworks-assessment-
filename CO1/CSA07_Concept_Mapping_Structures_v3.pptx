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1097280"/>
            <a:ext cx="82296" cy="82296"/>
          </a:xfrm>
          <a:prstGeom prst="ellipse">
            <a:avLst/>
          </a:prstGeom>
          <a:solidFill>
            <a:srgbClr val="4A6FA5"/>
          </a:solidFill>
        </p:spPr>
      </p:sp>
      <p:sp>
        <p:nvSpPr>
          <p:cNvPr id="3" name="Shape 1"/>
          <p:cNvSpPr/>
          <p:nvPr/>
        </p:nvSpPr>
        <p:spPr>
          <a:xfrm>
            <a:off x="2103120" y="640080"/>
            <a:ext cx="82296" cy="82296"/>
          </a:xfrm>
          <a:prstGeom prst="ellipse">
            <a:avLst/>
          </a:prstGeom>
          <a:solidFill>
            <a:srgbClr val="4A6FA5"/>
          </a:solidFill>
        </p:spPr>
      </p:sp>
      <p:sp>
        <p:nvSpPr>
          <p:cNvPr id="4" name="Shape 2"/>
          <p:cNvSpPr/>
          <p:nvPr/>
        </p:nvSpPr>
        <p:spPr>
          <a:xfrm>
            <a:off x="9692640" y="914400"/>
            <a:ext cx="82296" cy="82296"/>
          </a:xfrm>
          <a:prstGeom prst="ellipse">
            <a:avLst/>
          </a:prstGeom>
          <a:solidFill>
            <a:srgbClr val="4A6FA5"/>
          </a:solidFill>
        </p:spPr>
      </p:sp>
      <p:sp>
        <p:nvSpPr>
          <p:cNvPr id="5" name="Shape 3"/>
          <p:cNvSpPr/>
          <p:nvPr/>
        </p:nvSpPr>
        <p:spPr>
          <a:xfrm>
            <a:off x="10881360" y="1737360"/>
            <a:ext cx="82296" cy="82296"/>
          </a:xfrm>
          <a:prstGeom prst="ellipse">
            <a:avLst/>
          </a:prstGeom>
          <a:solidFill>
            <a:srgbClr val="4A6FA5"/>
          </a:solidFill>
        </p:spPr>
      </p:sp>
      <p:sp>
        <p:nvSpPr>
          <p:cNvPr id="6" name="Shape 4"/>
          <p:cNvSpPr/>
          <p:nvPr/>
        </p:nvSpPr>
        <p:spPr>
          <a:xfrm>
            <a:off x="1463040" y="5669280"/>
            <a:ext cx="82296" cy="82296"/>
          </a:xfrm>
          <a:prstGeom prst="ellipse">
            <a:avLst/>
          </a:prstGeom>
          <a:solidFill>
            <a:srgbClr val="4A6FA5"/>
          </a:solidFill>
        </p:spPr>
      </p:sp>
      <p:sp>
        <p:nvSpPr>
          <p:cNvPr id="7" name="Shape 5"/>
          <p:cNvSpPr/>
          <p:nvPr/>
        </p:nvSpPr>
        <p:spPr>
          <a:xfrm>
            <a:off x="10241280" y="5394960"/>
            <a:ext cx="82296" cy="82296"/>
          </a:xfrm>
          <a:prstGeom prst="ellipse">
            <a:avLst/>
          </a:prstGeom>
          <a:solidFill>
            <a:srgbClr val="4A6FA5"/>
          </a:solidFill>
        </p:spPr>
      </p:sp>
      <p:sp>
        <p:nvSpPr>
          <p:cNvPr id="8" name="Text 6"/>
          <p:cNvSpPr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6FCFC1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CSA07 — COMPUTER NETWORKS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606040"/>
            <a:ext cx="10515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OSI Layer Concept Mapping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822960" y="3520440"/>
            <a:ext cx="10332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C9D6E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Six questions — six new structures: timeline, card-stack, ladder, swimlane, loop, checklist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0BC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SIMATS Engineering  |  Assessment Tool 2  |  Annexure 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54864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Question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1F2A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Completing the Concept Map of OSI Layers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5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Application → Presentation → ______ → Transport → Network → ______ → Physical.  Structure: horizontal roadmap timeline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05840" y="3794760"/>
            <a:ext cx="11155680" cy="3794760"/>
          </a:xfrm>
          <a:prstGeom prst="line">
            <a:avLst/>
          </a:prstGeom>
          <a:noFill/>
          <a:ln w="50800">
            <a:solidFill>
              <a:srgbClr val="DCE1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3959352"/>
            <a:ext cx="10149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C65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7 (Application)  →  ...  →  1 (Physical)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76656" y="3465576"/>
            <a:ext cx="658368" cy="658368"/>
          </a:xfrm>
          <a:prstGeom prst="ellipse">
            <a:avLst/>
          </a:prstGeom>
          <a:solidFill>
            <a:srgbClr val="6A4C93"/>
          </a:solidFill>
        </p:spPr>
      </p:sp>
      <p:sp>
        <p:nvSpPr>
          <p:cNvPr id="8" name="Text 6"/>
          <p:cNvSpPr/>
          <p:nvPr/>
        </p:nvSpPr>
        <p:spPr>
          <a:xfrm>
            <a:off x="676656" y="3465576"/>
            <a:ext cx="658368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7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 flipV="1">
            <a:off x="1005840" y="3383280"/>
            <a:ext cx="0" cy="82296"/>
          </a:xfrm>
          <a:prstGeom prst="line">
            <a:avLst/>
          </a:prstGeom>
          <a:noFill/>
          <a:ln w="15240">
            <a:solidFill>
              <a:srgbClr val="AAB2B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37160" y="246888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DCE1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" y="2542032"/>
            <a:ext cx="15910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A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0312" y="2944368"/>
            <a:ext cx="159105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5C65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HTTP, FTP, DNS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2368296" y="3465576"/>
            <a:ext cx="658368" cy="658368"/>
          </a:xfrm>
          <a:prstGeom prst="ellipse">
            <a:avLst/>
          </a:prstGeom>
          <a:solidFill>
            <a:srgbClr val="1982C4"/>
          </a:solidFill>
        </p:spPr>
      </p:sp>
      <p:sp>
        <p:nvSpPr>
          <p:cNvPr id="14" name="Text 12"/>
          <p:cNvSpPr/>
          <p:nvPr/>
        </p:nvSpPr>
        <p:spPr>
          <a:xfrm>
            <a:off x="2368296" y="3465576"/>
            <a:ext cx="658368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6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697480" y="4123944"/>
            <a:ext cx="0" cy="82296"/>
          </a:xfrm>
          <a:prstGeom prst="line">
            <a:avLst/>
          </a:prstGeom>
          <a:noFill/>
          <a:ln w="15240">
            <a:solidFill>
              <a:srgbClr val="AAB2B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828800" y="420624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DCE1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01952" y="4279392"/>
            <a:ext cx="15910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A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Presentation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01952" y="4681728"/>
            <a:ext cx="159105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5C65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Encryption,</a:t>
            </a:r>
            <a:endParaRPr lang="en-US" sz="860" dirty="0"/>
          </a:p>
          <a:p>
            <a:pPr marL="0" indent="0" algn="ctr">
              <a:buNone/>
            </a:pPr>
            <a:r>
              <a:rPr lang="en-US" sz="860" dirty="0">
                <a:solidFill>
                  <a:srgbClr val="5C65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Compression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4005072" y="3410712"/>
            <a:ext cx="768096" cy="768096"/>
          </a:xfrm>
          <a:prstGeom prst="ellipse">
            <a:avLst/>
          </a:prstGeom>
          <a:solidFill>
            <a:srgbClr val="5DA271"/>
          </a:solidFill>
          <a:ln w="38100">
            <a:solidFill>
              <a:srgbClr val="D9790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05072" y="3410712"/>
            <a:ext cx="768096" cy="7680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 flipV="1">
            <a:off x="4389120" y="3383280"/>
            <a:ext cx="0" cy="27432"/>
          </a:xfrm>
          <a:prstGeom prst="line">
            <a:avLst/>
          </a:prstGeom>
          <a:noFill/>
          <a:ln w="15240">
            <a:solidFill>
              <a:srgbClr val="AAB2B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520440" y="246888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25400">
            <a:solidFill>
              <a:srgbClr val="D9790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93592" y="2542032"/>
            <a:ext cx="15910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90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Session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D9790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★ MISSING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93592" y="2944368"/>
            <a:ext cx="159105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5C65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Dialogue</a:t>
            </a:r>
            <a:endParaRPr lang="en-US" sz="860" dirty="0"/>
          </a:p>
          <a:p>
            <a:pPr marL="0" indent="0" algn="ctr">
              <a:buNone/>
            </a:pPr>
            <a:r>
              <a:rPr lang="en-US" sz="860" dirty="0">
                <a:solidFill>
                  <a:srgbClr val="5C65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control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5751576" y="3465576"/>
            <a:ext cx="658368" cy="658368"/>
          </a:xfrm>
          <a:prstGeom prst="ellipse">
            <a:avLst/>
          </a:prstGeom>
          <a:solidFill>
            <a:srgbClr val="F2B134"/>
          </a:solidFill>
        </p:spPr>
      </p:sp>
      <p:sp>
        <p:nvSpPr>
          <p:cNvPr id="26" name="Text 24"/>
          <p:cNvSpPr/>
          <p:nvPr/>
        </p:nvSpPr>
        <p:spPr>
          <a:xfrm>
            <a:off x="5751576" y="3465576"/>
            <a:ext cx="658368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080760" y="4123944"/>
            <a:ext cx="0" cy="82296"/>
          </a:xfrm>
          <a:prstGeom prst="line">
            <a:avLst/>
          </a:prstGeom>
          <a:noFill/>
          <a:ln w="15240">
            <a:solidFill>
              <a:srgbClr val="AAB2BC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212080" y="420624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DCE1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85232" y="4279392"/>
            <a:ext cx="15910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A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Transport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85232" y="4681728"/>
            <a:ext cx="159105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5C65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TCP/UDP,</a:t>
            </a:r>
            <a:endParaRPr lang="en-US" sz="860" dirty="0"/>
          </a:p>
          <a:p>
            <a:pPr marL="0" indent="0" algn="ctr">
              <a:buNone/>
            </a:pPr>
            <a:r>
              <a:rPr lang="en-US" sz="860" dirty="0">
                <a:solidFill>
                  <a:srgbClr val="5C65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Segments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7443216" y="3465576"/>
            <a:ext cx="658368" cy="658368"/>
          </a:xfrm>
          <a:prstGeom prst="ellipse">
            <a:avLst/>
          </a:prstGeom>
          <a:solidFill>
            <a:srgbClr val="F2784B"/>
          </a:solidFill>
        </p:spPr>
      </p:sp>
      <p:sp>
        <p:nvSpPr>
          <p:cNvPr id="32" name="Text 30"/>
          <p:cNvSpPr/>
          <p:nvPr/>
        </p:nvSpPr>
        <p:spPr>
          <a:xfrm>
            <a:off x="7443216" y="3465576"/>
            <a:ext cx="658368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 flipV="1">
            <a:off x="7772400" y="3383280"/>
            <a:ext cx="0" cy="82296"/>
          </a:xfrm>
          <a:prstGeom prst="line">
            <a:avLst/>
          </a:prstGeom>
          <a:noFill/>
          <a:ln w="15240">
            <a:solidFill>
              <a:srgbClr val="AAB2BC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903720" y="246888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DCE1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76872" y="2542032"/>
            <a:ext cx="15910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A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Network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76872" y="2944368"/>
            <a:ext cx="159105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5C65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IP, Routing,</a:t>
            </a:r>
            <a:endParaRPr lang="en-US" sz="860" dirty="0"/>
          </a:p>
          <a:p>
            <a:pPr marL="0" indent="0" algn="ctr">
              <a:buNone/>
            </a:pPr>
            <a:r>
              <a:rPr lang="en-US" sz="860" dirty="0">
                <a:solidFill>
                  <a:srgbClr val="5C65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Packets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9079992" y="3410712"/>
            <a:ext cx="768096" cy="768096"/>
          </a:xfrm>
          <a:prstGeom prst="ellipse">
            <a:avLst/>
          </a:prstGeom>
          <a:solidFill>
            <a:srgbClr val="1B998B"/>
          </a:solidFill>
          <a:ln w="38100">
            <a:solidFill>
              <a:srgbClr val="D9790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79992" y="3410712"/>
            <a:ext cx="768096" cy="7680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9464040" y="4178808"/>
            <a:ext cx="0" cy="27432"/>
          </a:xfrm>
          <a:prstGeom prst="line">
            <a:avLst/>
          </a:prstGeom>
          <a:noFill/>
          <a:ln w="15240">
            <a:solidFill>
              <a:srgbClr val="AAB2BC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595360" y="420624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25400">
            <a:solidFill>
              <a:srgbClr val="D9790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68512" y="4279392"/>
            <a:ext cx="15910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90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Data Link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D9790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★ MISSING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668512" y="4681728"/>
            <a:ext cx="159105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5C65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MAC,</a:t>
            </a:r>
            <a:endParaRPr lang="en-US" sz="860" dirty="0"/>
          </a:p>
          <a:p>
            <a:pPr marL="0" indent="0" algn="ctr">
              <a:buNone/>
            </a:pPr>
            <a:r>
              <a:rPr lang="en-US" sz="860" dirty="0">
                <a:solidFill>
                  <a:srgbClr val="5C65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Frames</a:t>
            </a:r>
            <a:endParaRPr lang="en-US" sz="860" dirty="0"/>
          </a:p>
        </p:txBody>
      </p:sp>
      <p:sp>
        <p:nvSpPr>
          <p:cNvPr id="43" name="Shape 41"/>
          <p:cNvSpPr/>
          <p:nvPr/>
        </p:nvSpPr>
        <p:spPr>
          <a:xfrm>
            <a:off x="10826496" y="3465576"/>
            <a:ext cx="658368" cy="658368"/>
          </a:xfrm>
          <a:prstGeom prst="ellipse">
            <a:avLst/>
          </a:prstGeom>
          <a:solidFill>
            <a:srgbClr val="5C4B99"/>
          </a:solidFill>
        </p:spPr>
      </p:sp>
      <p:sp>
        <p:nvSpPr>
          <p:cNvPr id="44" name="Text 42"/>
          <p:cNvSpPr/>
          <p:nvPr/>
        </p:nvSpPr>
        <p:spPr>
          <a:xfrm>
            <a:off x="10826496" y="3465576"/>
            <a:ext cx="658368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 flipV="1">
            <a:off x="11155680" y="3383280"/>
            <a:ext cx="0" cy="82296"/>
          </a:xfrm>
          <a:prstGeom prst="line">
            <a:avLst/>
          </a:prstGeom>
          <a:noFill/>
          <a:ln w="15240">
            <a:solidFill>
              <a:srgbClr val="AAB2BC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10287000" y="246888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DCE1E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360152" y="2542032"/>
            <a:ext cx="15910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A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Physical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360152" y="2944368"/>
            <a:ext cx="159105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5C65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Bits, Cables,</a:t>
            </a:r>
            <a:endParaRPr lang="en-US" sz="860" dirty="0"/>
          </a:p>
          <a:p>
            <a:pPr marL="0" indent="0" algn="ctr">
              <a:buNone/>
            </a:pPr>
            <a:r>
              <a:rPr lang="en-US" sz="860" dirty="0">
                <a:solidFill>
                  <a:srgbClr val="5C65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Signals</a:t>
            </a:r>
            <a:endParaRPr lang="en-US" sz="860" dirty="0"/>
          </a:p>
        </p:txBody>
      </p:sp>
      <p:sp>
        <p:nvSpPr>
          <p:cNvPr id="49" name="Shape 47"/>
          <p:cNvSpPr/>
          <p:nvPr/>
        </p:nvSpPr>
        <p:spPr>
          <a:xfrm>
            <a:off x="502920" y="5349240"/>
            <a:ext cx="11155680" cy="1051560"/>
          </a:xfrm>
          <a:prstGeom prst="roundRect">
            <a:avLst>
              <a:gd name="adj" fmla="val 6957"/>
            </a:avLst>
          </a:prstGeom>
          <a:solidFill>
            <a:srgbClr val="F4F6F8"/>
          </a:solidFill>
          <a:ln w="12700">
            <a:solidFill>
              <a:srgbClr val="DCE1E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5800" y="5458968"/>
            <a:ext cx="107899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E7C7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Why Session &amp;amp; Data Link are essential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04088" y="5870448"/>
            <a:ext cx="82296" cy="82296"/>
          </a:xfrm>
          <a:prstGeom prst="ellipse">
            <a:avLst/>
          </a:prstGeom>
          <a:solidFill>
            <a:srgbClr val="3A6EA5"/>
          </a:solidFill>
        </p:spPr>
      </p:sp>
      <p:sp>
        <p:nvSpPr>
          <p:cNvPr id="52" name="Text 50"/>
          <p:cNvSpPr/>
          <p:nvPr/>
        </p:nvSpPr>
        <p:spPr>
          <a:xfrm>
            <a:off x="886968" y="5733288"/>
            <a:ext cx="1056132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22222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Session: manages dialogue &amp;amp; resumes after interruption  |  Data Link: MAC framing + CRC error detection — together they complete the encapsulation chain end-to-end.</a:t>
            </a:r>
            <a:endParaRPr lang="en-US" sz="1020" dirty="0"/>
          </a:p>
        </p:txBody>
      </p:sp>
      <p:sp>
        <p:nvSpPr>
          <p:cNvPr id="53" name="Text 5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5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54864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Question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1F2A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Data Units and Their OSI Layers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5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Each Protocol Data Unit (PDU) mapped to its OSI layer.  Structure: diagonal card-stack (envelope wrapping)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05840" y="1600200"/>
            <a:ext cx="5257800" cy="1051560"/>
          </a:xfrm>
          <a:prstGeom prst="roundRect">
            <a:avLst>
              <a:gd name="adj" fmla="val 6087"/>
            </a:avLst>
          </a:prstGeom>
          <a:solidFill>
            <a:srgbClr val="5C4B9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07008" y="1691640"/>
            <a:ext cx="4892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Physical Layer   |   PDU: BITS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07008" y="2075688"/>
            <a:ext cx="4892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Electrical / optical / radio signals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572768" y="2039112"/>
            <a:ext cx="5257800" cy="1051560"/>
          </a:xfrm>
          <a:prstGeom prst="roundRect">
            <a:avLst>
              <a:gd name="adj" fmla="val 6087"/>
            </a:avLst>
          </a:prstGeom>
          <a:solidFill>
            <a:srgbClr val="1B998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73936" y="2130552"/>
            <a:ext cx="4892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Data Link Layer   |   PDU: FRAME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73936" y="2514600"/>
            <a:ext cx="4892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Adds MAC address + CRC trailer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39696" y="2478024"/>
            <a:ext cx="5257800" cy="1051560"/>
          </a:xfrm>
          <a:prstGeom prst="roundRect">
            <a:avLst>
              <a:gd name="adj" fmla="val 6087"/>
            </a:avLst>
          </a:prstGeom>
          <a:solidFill>
            <a:srgbClr val="F2784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40864" y="2569464"/>
            <a:ext cx="4892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Network Layer   |   PDU: PACKET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40864" y="2953512"/>
            <a:ext cx="4892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Adds source/destination IP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06624" y="2916936"/>
            <a:ext cx="5257800" cy="1051560"/>
          </a:xfrm>
          <a:prstGeom prst="roundRect">
            <a:avLst>
              <a:gd name="adj" fmla="val 6087"/>
            </a:avLst>
          </a:prstGeom>
          <a:solidFill>
            <a:srgbClr val="F2B13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07792" y="3008376"/>
            <a:ext cx="4892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222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Transport Layer   |   PDU: SEGMENT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07792" y="3392424"/>
            <a:ext cx="4892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22222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Adds ports + sequence numbers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73552" y="3355848"/>
            <a:ext cx="5257800" cy="1051560"/>
          </a:xfrm>
          <a:prstGeom prst="roundRect">
            <a:avLst>
              <a:gd name="adj" fmla="val 6087"/>
            </a:avLst>
          </a:prstGeom>
          <a:solidFill>
            <a:srgbClr val="6A4C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3447288"/>
            <a:ext cx="4892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Application Data   |   PDU: DATA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0" y="3831336"/>
            <a:ext cx="4892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Innermost — original message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" y="1097280"/>
            <a:ext cx="1463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5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Physical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C65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(outermost)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84832" y="2898648"/>
            <a:ext cx="1737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F2A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Data (innermost) →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052560" y="1600200"/>
            <a:ext cx="2743200" cy="4480560"/>
          </a:xfrm>
          <a:prstGeom prst="roundRect">
            <a:avLst>
              <a:gd name="adj" fmla="val 2667"/>
            </a:avLst>
          </a:prstGeom>
          <a:solidFill>
            <a:srgbClr val="F4F6F8"/>
          </a:solidFill>
          <a:ln w="12700">
            <a:solidFill>
              <a:srgbClr val="DCE1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35440" y="1709928"/>
            <a:ext cx="23774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E7C7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Key idea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253728" y="2121408"/>
            <a:ext cx="82296" cy="82296"/>
          </a:xfrm>
          <a:prstGeom prst="ellipse">
            <a:avLst/>
          </a:prstGeom>
          <a:solidFill>
            <a:srgbClr val="3A6EA5"/>
          </a:solidFill>
        </p:spPr>
      </p:sp>
      <p:sp>
        <p:nvSpPr>
          <p:cNvPr id="25" name="Text 23"/>
          <p:cNvSpPr/>
          <p:nvPr/>
        </p:nvSpPr>
        <p:spPr>
          <a:xfrm>
            <a:off x="9436608" y="1984248"/>
            <a:ext cx="214884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22222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Each layer wraps the unit above it in its own header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9253728" y="2578608"/>
            <a:ext cx="82296" cy="82296"/>
          </a:xfrm>
          <a:prstGeom prst="ellipse">
            <a:avLst/>
          </a:prstGeom>
          <a:solidFill>
            <a:srgbClr val="3A6EA5"/>
          </a:solidFill>
        </p:spPr>
      </p:sp>
      <p:sp>
        <p:nvSpPr>
          <p:cNvPr id="27" name="Text 25"/>
          <p:cNvSpPr/>
          <p:nvPr/>
        </p:nvSpPr>
        <p:spPr>
          <a:xfrm>
            <a:off x="9436608" y="2441448"/>
            <a:ext cx="214884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22222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Encapsulation: Data→Segment→Packet→Frame→Bits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9253728" y="3035808"/>
            <a:ext cx="82296" cy="82296"/>
          </a:xfrm>
          <a:prstGeom prst="ellipse">
            <a:avLst/>
          </a:prstGeom>
          <a:solidFill>
            <a:srgbClr val="3A6EA5"/>
          </a:solidFill>
        </p:spPr>
      </p:sp>
      <p:sp>
        <p:nvSpPr>
          <p:cNvPr id="29" name="Text 27"/>
          <p:cNvSpPr/>
          <p:nvPr/>
        </p:nvSpPr>
        <p:spPr>
          <a:xfrm>
            <a:off x="9436608" y="2898648"/>
            <a:ext cx="214884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22222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Decapsulation un-wraps in reverse at the receiver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5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54864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Question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1F2A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MAC Address vs IP Address in Data Delivery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5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Data Link → MAC Address → Local Delivery   |   Network → IP Address → Global Delivery   |   Structure: ladder comparison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1554480"/>
            <a:ext cx="4846320" cy="502920"/>
          </a:xfrm>
          <a:prstGeom prst="roundRect">
            <a:avLst>
              <a:gd name="adj" fmla="val 10909"/>
            </a:avLst>
          </a:prstGeom>
          <a:solidFill>
            <a:srgbClr val="1B998B"/>
          </a:solidFill>
        </p:spPr>
      </p:sp>
      <p:sp>
        <p:nvSpPr>
          <p:cNvPr id="6" name="Text 4"/>
          <p:cNvSpPr/>
          <p:nvPr/>
        </p:nvSpPr>
        <p:spPr>
          <a:xfrm>
            <a:off x="822960" y="1554480"/>
            <a:ext cx="4846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MAC ADDRESS  (Data Link Layer)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92240" y="1554480"/>
            <a:ext cx="4846320" cy="502920"/>
          </a:xfrm>
          <a:prstGeom prst="roundRect">
            <a:avLst>
              <a:gd name="adj" fmla="val 10909"/>
            </a:avLst>
          </a:prstGeom>
          <a:solidFill>
            <a:srgbClr val="F2784B"/>
          </a:solidFill>
        </p:spPr>
      </p:sp>
      <p:sp>
        <p:nvSpPr>
          <p:cNvPr id="8" name="Text 6"/>
          <p:cNvSpPr/>
          <p:nvPr/>
        </p:nvSpPr>
        <p:spPr>
          <a:xfrm>
            <a:off x="6492240" y="1554480"/>
            <a:ext cx="4846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IP ADDRESS  (Network Layer)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2286000"/>
            <a:ext cx="4846320" cy="658368"/>
          </a:xfrm>
          <a:prstGeom prst="roundRect">
            <a:avLst>
              <a:gd name="adj" fmla="val 6944"/>
            </a:avLst>
          </a:prstGeom>
          <a:solidFill>
            <a:srgbClr val="F4F6F8"/>
          </a:solidFill>
          <a:ln w="12700">
            <a:solidFill>
              <a:srgbClr val="DCE1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286000"/>
            <a:ext cx="45720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22222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Local (same network segment)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6492240" y="2286000"/>
            <a:ext cx="4846320" cy="658368"/>
          </a:xfrm>
          <a:prstGeom prst="roundRect">
            <a:avLst>
              <a:gd name="adj" fmla="val 6944"/>
            </a:avLst>
          </a:prstGeom>
          <a:solidFill>
            <a:srgbClr val="F4F6F8"/>
          </a:solidFill>
          <a:ln w="12700">
            <a:solidFill>
              <a:srgbClr val="DCE1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286000"/>
            <a:ext cx="45720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22222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Global (across networks)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5669280" y="2615184"/>
            <a:ext cx="6492240" cy="2615184"/>
          </a:xfrm>
          <a:prstGeom prst="line">
            <a:avLst/>
          </a:prstGeom>
          <a:noFill/>
          <a:ln w="17780">
            <a:solidFill>
              <a:srgbClr val="DCE1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77840" y="2441448"/>
            <a:ext cx="1005840" cy="347472"/>
          </a:xfrm>
          <a:prstGeom prst="ellipse">
            <a:avLst/>
          </a:prstGeom>
          <a:solidFill>
            <a:srgbClr val="1F2A44"/>
          </a:solidFill>
        </p:spPr>
      </p:sp>
      <p:sp>
        <p:nvSpPr>
          <p:cNvPr id="15" name="Text 13"/>
          <p:cNvSpPr/>
          <p:nvPr/>
        </p:nvSpPr>
        <p:spPr>
          <a:xfrm>
            <a:off x="5577840" y="2441448"/>
            <a:ext cx="10058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Delivery Scope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22960" y="3035808"/>
            <a:ext cx="4846320" cy="658368"/>
          </a:xfrm>
          <a:prstGeom prst="roundRect">
            <a:avLst>
              <a:gd name="adj" fmla="val 6944"/>
            </a:avLst>
          </a:prstGeom>
          <a:solidFill>
            <a:srgbClr val="F4F6F8"/>
          </a:solidFill>
          <a:ln w="12700">
            <a:solidFill>
              <a:srgbClr val="DCE1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035808"/>
            <a:ext cx="45720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22222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Physical, burned into hardware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6492240" y="3035808"/>
            <a:ext cx="4846320" cy="658368"/>
          </a:xfrm>
          <a:prstGeom prst="roundRect">
            <a:avLst>
              <a:gd name="adj" fmla="val 6944"/>
            </a:avLst>
          </a:prstGeom>
          <a:solidFill>
            <a:srgbClr val="F4F6F8"/>
          </a:solidFill>
          <a:ln w="12700">
            <a:solidFill>
              <a:srgbClr val="DCE1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3035808"/>
            <a:ext cx="45720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22222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Logical, configurable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5669280" y="3364992"/>
            <a:ext cx="6492240" cy="3364992"/>
          </a:xfrm>
          <a:prstGeom prst="line">
            <a:avLst/>
          </a:prstGeom>
          <a:noFill/>
          <a:ln w="17780">
            <a:solidFill>
              <a:srgbClr val="DCE1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3191256"/>
            <a:ext cx="1005840" cy="347472"/>
          </a:xfrm>
          <a:prstGeom prst="ellipse">
            <a:avLst/>
          </a:prstGeom>
          <a:solidFill>
            <a:srgbClr val="1F2A44"/>
          </a:solidFill>
        </p:spPr>
      </p:sp>
      <p:sp>
        <p:nvSpPr>
          <p:cNvPr id="22" name="Text 20"/>
          <p:cNvSpPr/>
          <p:nvPr/>
        </p:nvSpPr>
        <p:spPr>
          <a:xfrm>
            <a:off x="5577840" y="3191256"/>
            <a:ext cx="10058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Nature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22960" y="3785616"/>
            <a:ext cx="4846320" cy="658368"/>
          </a:xfrm>
          <a:prstGeom prst="roundRect">
            <a:avLst>
              <a:gd name="adj" fmla="val 6944"/>
            </a:avLst>
          </a:prstGeom>
          <a:solidFill>
            <a:srgbClr val="F4F6F8"/>
          </a:solidFill>
          <a:ln w="12700">
            <a:solidFill>
              <a:srgbClr val="DCE1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3785616"/>
            <a:ext cx="45720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22222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Yes — changes every hop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6492240" y="3785616"/>
            <a:ext cx="4846320" cy="658368"/>
          </a:xfrm>
          <a:prstGeom prst="roundRect">
            <a:avLst>
              <a:gd name="adj" fmla="val 6944"/>
            </a:avLst>
          </a:prstGeom>
          <a:solidFill>
            <a:srgbClr val="F4F6F8"/>
          </a:solidFill>
          <a:ln w="12700">
            <a:solidFill>
              <a:srgbClr val="DCE1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3785616"/>
            <a:ext cx="45720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22222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No — same end-to-end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5669280" y="4114800"/>
            <a:ext cx="6492240" cy="4114800"/>
          </a:xfrm>
          <a:prstGeom prst="line">
            <a:avLst/>
          </a:prstGeom>
          <a:noFill/>
          <a:ln w="17780">
            <a:solidFill>
              <a:srgbClr val="DCE1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77840" y="3941064"/>
            <a:ext cx="1005840" cy="347472"/>
          </a:xfrm>
          <a:prstGeom prst="ellipse">
            <a:avLst/>
          </a:prstGeom>
          <a:solidFill>
            <a:srgbClr val="1F2A44"/>
          </a:solidFill>
        </p:spPr>
      </p:sp>
      <p:sp>
        <p:nvSpPr>
          <p:cNvPr id="29" name="Text 27"/>
          <p:cNvSpPr/>
          <p:nvPr/>
        </p:nvSpPr>
        <p:spPr>
          <a:xfrm>
            <a:off x="5577840" y="3941064"/>
            <a:ext cx="10058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Changes per hop?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22960" y="4535424"/>
            <a:ext cx="4846320" cy="658368"/>
          </a:xfrm>
          <a:prstGeom prst="roundRect">
            <a:avLst>
              <a:gd name="adj" fmla="val 6944"/>
            </a:avLst>
          </a:prstGeom>
          <a:solidFill>
            <a:srgbClr val="F4F6F8"/>
          </a:solidFill>
          <a:ln w="12700">
            <a:solidFill>
              <a:srgbClr val="DCE1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4535424"/>
            <a:ext cx="45720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22222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Switches (within a LAN)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6492240" y="4535424"/>
            <a:ext cx="4846320" cy="658368"/>
          </a:xfrm>
          <a:prstGeom prst="roundRect">
            <a:avLst>
              <a:gd name="adj" fmla="val 6944"/>
            </a:avLst>
          </a:prstGeom>
          <a:solidFill>
            <a:srgbClr val="F4F6F8"/>
          </a:solidFill>
          <a:ln w="12700">
            <a:solidFill>
              <a:srgbClr val="DCE1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9400" y="4535424"/>
            <a:ext cx="45720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22222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Routers (between networks)</a:t>
            </a:r>
            <a:endParaRPr lang="en-US" sz="1030" dirty="0"/>
          </a:p>
        </p:txBody>
      </p:sp>
      <p:sp>
        <p:nvSpPr>
          <p:cNvPr id="34" name="Shape 32"/>
          <p:cNvSpPr/>
          <p:nvPr/>
        </p:nvSpPr>
        <p:spPr>
          <a:xfrm>
            <a:off x="5669280" y="4864608"/>
            <a:ext cx="6492240" cy="4864608"/>
          </a:xfrm>
          <a:prstGeom prst="line">
            <a:avLst/>
          </a:prstGeom>
          <a:noFill/>
          <a:ln w="17780">
            <a:solidFill>
              <a:srgbClr val="DCE1E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77840" y="4690872"/>
            <a:ext cx="1005840" cy="347472"/>
          </a:xfrm>
          <a:prstGeom prst="ellipse">
            <a:avLst/>
          </a:prstGeom>
          <a:solidFill>
            <a:srgbClr val="1F2A44"/>
          </a:solidFill>
        </p:spPr>
      </p:sp>
      <p:sp>
        <p:nvSpPr>
          <p:cNvPr id="36" name="Text 34"/>
          <p:cNvSpPr/>
          <p:nvPr/>
        </p:nvSpPr>
        <p:spPr>
          <a:xfrm>
            <a:off x="5577840" y="4690872"/>
            <a:ext cx="10058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Used by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22960" y="5349240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F4F6F8"/>
          </a:solidFill>
          <a:ln w="12700">
            <a:solidFill>
              <a:srgbClr val="DCE1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05840" y="5458968"/>
            <a:ext cx="10149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E7C7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Analysis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024128" y="5870448"/>
            <a:ext cx="82296" cy="82296"/>
          </a:xfrm>
          <a:prstGeom prst="ellipse">
            <a:avLst/>
          </a:prstGeom>
          <a:solidFill>
            <a:srgbClr val="3A6EA5"/>
          </a:solidFill>
        </p:spPr>
      </p:sp>
      <p:sp>
        <p:nvSpPr>
          <p:cNvPr id="40" name="Text 38"/>
          <p:cNvSpPr/>
          <p:nvPr/>
        </p:nvSpPr>
        <p:spPr>
          <a:xfrm>
            <a:off x="1207008" y="5733288"/>
            <a:ext cx="992124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22222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IP routes globally hop-by-hop; MAC delivers locally at each hop — a router re-encapsulates between the two for every hop along the path.</a:t>
            </a:r>
            <a:endParaRPr lang="en-US" sz="1020" dirty="0"/>
          </a:p>
        </p:txBody>
      </p:sp>
      <p:sp>
        <p:nvSpPr>
          <p:cNvPr id="41" name="Text 3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5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54864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Question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1F2A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Error Control at Data Link vs Transport Layer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5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Error Control → Data Link → Error Detection   |   Error Control → Transport → Error Correction   |   Structure: swimlane process flow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1292840" cy="1691640"/>
          </a:xfrm>
          <a:prstGeom prst="roundRect">
            <a:avLst>
              <a:gd name="adj" fmla="val 2703"/>
            </a:avLst>
          </a:prstGeom>
          <a:solidFill>
            <a:srgbClr val="F4F6F8"/>
          </a:solidFill>
          <a:ln w="12700">
            <a:solidFill>
              <a:srgbClr val="DCE1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00200"/>
            <a:ext cx="2331720" cy="1691640"/>
          </a:xfrm>
          <a:prstGeom prst="roundRect">
            <a:avLst>
              <a:gd name="adj" fmla="val 2703"/>
            </a:avLst>
          </a:prstGeom>
          <a:solidFill>
            <a:srgbClr val="1B998B"/>
          </a:solidFill>
        </p:spPr>
      </p:sp>
      <p:sp>
        <p:nvSpPr>
          <p:cNvPr id="7" name="Text 5"/>
          <p:cNvSpPr/>
          <p:nvPr/>
        </p:nvSpPr>
        <p:spPr>
          <a:xfrm>
            <a:off x="594360" y="1737360"/>
            <a:ext cx="2057400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Data Link Layer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Error Detection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08960" y="2057400"/>
            <a:ext cx="1965960" cy="777240"/>
          </a:xfrm>
          <a:prstGeom prst="flowChartProcess">
            <a:avLst/>
          </a:prstGeom>
          <a:solidFill>
            <a:srgbClr val="FFFFFF"/>
          </a:solidFill>
          <a:ln w="25400">
            <a:solidFill>
              <a:srgbClr val="1B99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2057400"/>
            <a:ext cx="19659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F2A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Frame</a:t>
            </a:r>
            <a:endParaRPr lang="en-US" sz="930" dirty="0"/>
          </a:p>
          <a:p>
            <a:pPr marL="0" indent="0" algn="ctr">
              <a:buNone/>
            </a:pPr>
            <a:r>
              <a:rPr lang="en-US" sz="930" b="1" dirty="0">
                <a:solidFill>
                  <a:srgbClr val="1F2A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arrives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5074920" y="2446020"/>
            <a:ext cx="502920" cy="0"/>
          </a:xfrm>
          <a:prstGeom prst="line">
            <a:avLst/>
          </a:prstGeom>
          <a:noFill/>
          <a:ln w="25400">
            <a:solidFill>
              <a:srgbClr val="1B99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577840" y="2057400"/>
            <a:ext cx="1965960" cy="777240"/>
          </a:xfrm>
          <a:prstGeom prst="flowChartProcess">
            <a:avLst/>
          </a:prstGeom>
          <a:solidFill>
            <a:srgbClr val="FFFFFF"/>
          </a:solidFill>
          <a:ln w="25400">
            <a:solidFill>
              <a:srgbClr val="1B99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2057400"/>
            <a:ext cx="19659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F2A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CRC /</a:t>
            </a:r>
            <a:endParaRPr lang="en-US" sz="930" dirty="0"/>
          </a:p>
          <a:p>
            <a:pPr marL="0" indent="0" algn="ctr">
              <a:buNone/>
            </a:pPr>
            <a:r>
              <a:rPr lang="en-US" sz="930" b="1" dirty="0">
                <a:solidFill>
                  <a:srgbClr val="1F2A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Checksum check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7543800" y="2446020"/>
            <a:ext cx="502920" cy="0"/>
          </a:xfrm>
          <a:prstGeom prst="line">
            <a:avLst/>
          </a:prstGeom>
          <a:noFill/>
          <a:ln w="25400">
            <a:solidFill>
              <a:srgbClr val="1B99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046720" y="2057400"/>
            <a:ext cx="1965960" cy="777240"/>
          </a:xfrm>
          <a:prstGeom prst="flowChartProcess">
            <a:avLst/>
          </a:prstGeom>
          <a:solidFill>
            <a:srgbClr val="FFFFFF"/>
          </a:solidFill>
          <a:ln w="25400">
            <a:solidFill>
              <a:srgbClr val="1B99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2057400"/>
            <a:ext cx="19659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F2A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Corrupted →</a:t>
            </a:r>
            <a:endParaRPr lang="en-US" sz="930" dirty="0"/>
          </a:p>
          <a:p>
            <a:pPr marL="0" indent="0" algn="ctr">
              <a:buNone/>
            </a:pPr>
            <a:r>
              <a:rPr lang="en-US" sz="930" b="1" dirty="0">
                <a:solidFill>
                  <a:srgbClr val="1F2A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drop frame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11292840" cy="1691640"/>
          </a:xfrm>
          <a:prstGeom prst="roundRect">
            <a:avLst>
              <a:gd name="adj" fmla="val 2703"/>
            </a:avLst>
          </a:prstGeom>
          <a:solidFill>
            <a:srgbClr val="F4F6F8"/>
          </a:solidFill>
          <a:ln w="12700">
            <a:solidFill>
              <a:srgbClr val="DCE1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611880"/>
            <a:ext cx="2331720" cy="1691640"/>
          </a:xfrm>
          <a:prstGeom prst="roundRect">
            <a:avLst>
              <a:gd name="adj" fmla="val 2703"/>
            </a:avLst>
          </a:prstGeom>
          <a:solidFill>
            <a:srgbClr val="F2B134"/>
          </a:solidFill>
        </p:spPr>
      </p:sp>
      <p:sp>
        <p:nvSpPr>
          <p:cNvPr id="18" name="Text 16"/>
          <p:cNvSpPr/>
          <p:nvPr/>
        </p:nvSpPr>
        <p:spPr>
          <a:xfrm>
            <a:off x="594360" y="3749040"/>
            <a:ext cx="2057400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Transport Layer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Error Correction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108960" y="4069080"/>
            <a:ext cx="1965960" cy="777240"/>
          </a:xfrm>
          <a:prstGeom prst="flowChartProcess">
            <a:avLst/>
          </a:prstGeom>
          <a:solidFill>
            <a:srgbClr val="FFFFFF"/>
          </a:solidFill>
          <a:ln w="25400">
            <a:solidFill>
              <a:srgbClr val="F2B1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0" y="4069080"/>
            <a:ext cx="19659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F2A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Segment</a:t>
            </a:r>
            <a:endParaRPr lang="en-US" sz="930" dirty="0"/>
          </a:p>
          <a:p>
            <a:pPr marL="0" indent="0" algn="ctr">
              <a:buNone/>
            </a:pPr>
            <a:r>
              <a:rPr lang="en-US" sz="930" b="1" dirty="0">
                <a:solidFill>
                  <a:srgbClr val="1F2A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sent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5074920" y="4457700"/>
            <a:ext cx="502920" cy="0"/>
          </a:xfrm>
          <a:prstGeom prst="line">
            <a:avLst/>
          </a:prstGeom>
          <a:noFill/>
          <a:ln w="25400">
            <a:solidFill>
              <a:srgbClr val="F2B13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577840" y="4069080"/>
            <a:ext cx="1965960" cy="777240"/>
          </a:xfrm>
          <a:prstGeom prst="flowChartProcess">
            <a:avLst/>
          </a:prstGeom>
          <a:solidFill>
            <a:srgbClr val="FFFFFF"/>
          </a:solidFill>
          <a:ln w="25400">
            <a:solidFill>
              <a:srgbClr val="F2B13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4069080"/>
            <a:ext cx="19659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F2A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Timer / ACK</a:t>
            </a:r>
            <a:endParaRPr lang="en-US" sz="930" dirty="0"/>
          </a:p>
          <a:p>
            <a:pPr marL="0" indent="0" algn="ctr">
              <a:buNone/>
            </a:pPr>
            <a:r>
              <a:rPr lang="en-US" sz="930" b="1" dirty="0">
                <a:solidFill>
                  <a:srgbClr val="1F2A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awaited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7543800" y="4457700"/>
            <a:ext cx="502920" cy="0"/>
          </a:xfrm>
          <a:prstGeom prst="line">
            <a:avLst/>
          </a:prstGeom>
          <a:noFill/>
          <a:ln w="25400">
            <a:solidFill>
              <a:srgbClr val="F2B134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046720" y="4069080"/>
            <a:ext cx="1965960" cy="777240"/>
          </a:xfrm>
          <a:prstGeom prst="flowChartProcess">
            <a:avLst/>
          </a:prstGeom>
          <a:solidFill>
            <a:srgbClr val="FFFFFF"/>
          </a:solidFill>
          <a:ln w="25400">
            <a:solidFill>
              <a:srgbClr val="F2B1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0" y="4069080"/>
            <a:ext cx="19659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F2A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Lost →</a:t>
            </a:r>
            <a:endParaRPr lang="en-US" sz="930" dirty="0"/>
          </a:p>
          <a:p>
            <a:pPr marL="0" indent="0" algn="ctr">
              <a:buNone/>
            </a:pPr>
            <a:r>
              <a:rPr lang="en-US" sz="930" b="1" dirty="0">
                <a:solidFill>
                  <a:srgbClr val="1F2A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retransmit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457200" y="5440680"/>
            <a:ext cx="11292840" cy="9144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CE1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5550408"/>
            <a:ext cx="109270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E7C7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Analysis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8368" y="5961888"/>
            <a:ext cx="82296" cy="82296"/>
          </a:xfrm>
          <a:prstGeom prst="ellipse">
            <a:avLst/>
          </a:prstGeom>
          <a:solidFill>
            <a:srgbClr val="3A6EA5"/>
          </a:solidFill>
        </p:spPr>
      </p:sp>
      <p:sp>
        <p:nvSpPr>
          <p:cNvPr id="30" name="Text 28"/>
          <p:cNvSpPr/>
          <p:nvPr/>
        </p:nvSpPr>
        <p:spPr>
          <a:xfrm>
            <a:off x="841248" y="5824728"/>
            <a:ext cx="1069848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22222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Data Link acts locally, hop-by-hop and simply drops bad frames; Transport acts end-to-end and actively retransmits — a two-tier safety net.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5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54864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Question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1F2A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Concept Map for Web Browsing Using OSI Layers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5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Request flows Layer 7→1 down, response flows 1→7 back up.  Structure: circular loop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60520" y="2011680"/>
            <a:ext cx="1572795" cy="757418"/>
          </a:xfrm>
          <a:prstGeom prst="line">
            <a:avLst/>
          </a:prstGeom>
          <a:noFill/>
          <a:ln w="25400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733315" y="2769098"/>
            <a:ext cx="388448" cy="1701903"/>
          </a:xfrm>
          <a:prstGeom prst="line">
            <a:avLst/>
          </a:prstGeom>
          <a:noFill/>
          <a:ln w="25400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H="1">
            <a:off x="5033355" y="4471001"/>
            <a:ext cx="1088408" cy="1364820"/>
          </a:xfrm>
          <a:prstGeom prst="line">
            <a:avLst/>
          </a:prstGeom>
          <a:noFill/>
          <a:ln w="25400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H="1">
            <a:off x="3287685" y="5835821"/>
            <a:ext cx="1745670" cy="0"/>
          </a:xfrm>
          <a:prstGeom prst="line">
            <a:avLst/>
          </a:prstGeom>
          <a:noFill/>
          <a:ln w="25400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H="1" flipV="1">
            <a:off x="2199277" y="4471001"/>
            <a:ext cx="1088408" cy="1364820"/>
          </a:xfrm>
          <a:prstGeom prst="line">
            <a:avLst/>
          </a:prstGeom>
          <a:noFill/>
          <a:ln w="25400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2199277" y="2769098"/>
            <a:ext cx="388448" cy="1701903"/>
          </a:xfrm>
          <a:prstGeom prst="line">
            <a:avLst/>
          </a:prstGeom>
          <a:noFill/>
          <a:ln w="25400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 flipV="1">
            <a:off x="2587725" y="2011680"/>
            <a:ext cx="1572795" cy="757418"/>
          </a:xfrm>
          <a:prstGeom prst="line">
            <a:avLst/>
          </a:prstGeom>
          <a:noFill/>
          <a:ln w="25400">
            <a:solidFill>
              <a:srgbClr val="E76F5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680460" y="1531620"/>
            <a:ext cx="960120" cy="960120"/>
          </a:xfrm>
          <a:prstGeom prst="ellipse">
            <a:avLst/>
          </a:prstGeom>
          <a:solidFill>
            <a:srgbClr val="6A4C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80460" y="1531620"/>
            <a:ext cx="96012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7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App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253255" y="2289038"/>
            <a:ext cx="960120" cy="960120"/>
          </a:xfrm>
          <a:prstGeom prst="ellipse">
            <a:avLst/>
          </a:prstGeom>
          <a:solidFill>
            <a:srgbClr val="1982C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53255" y="2289038"/>
            <a:ext cx="96012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6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Pres.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41703" y="3990941"/>
            <a:ext cx="960120" cy="960120"/>
          </a:xfrm>
          <a:prstGeom prst="ellipse">
            <a:avLst/>
          </a:prstGeom>
          <a:solidFill>
            <a:srgbClr val="5DA27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41703" y="3990941"/>
            <a:ext cx="96012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5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Sess.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53295" y="5355761"/>
            <a:ext cx="960120" cy="960120"/>
          </a:xfrm>
          <a:prstGeom prst="ellipse">
            <a:avLst/>
          </a:prstGeom>
          <a:solidFill>
            <a:srgbClr val="F2B13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53295" y="5355761"/>
            <a:ext cx="96012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222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2222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Trans.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807625" y="5355761"/>
            <a:ext cx="960120" cy="960120"/>
          </a:xfrm>
          <a:prstGeom prst="ellipse">
            <a:avLst/>
          </a:prstGeom>
          <a:solidFill>
            <a:srgbClr val="F2784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07625" y="5355761"/>
            <a:ext cx="96012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Net.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719217" y="3990941"/>
            <a:ext cx="960120" cy="960120"/>
          </a:xfrm>
          <a:prstGeom prst="ellipse">
            <a:avLst/>
          </a:prstGeom>
          <a:solidFill>
            <a:srgbClr val="1B998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19217" y="3990941"/>
            <a:ext cx="96012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D.Link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107665" y="2289038"/>
            <a:ext cx="960120" cy="960120"/>
          </a:xfrm>
          <a:prstGeom prst="ellipse">
            <a:avLst/>
          </a:prstGeom>
          <a:solidFill>
            <a:srgbClr val="5C4B9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07665" y="2289038"/>
            <a:ext cx="96012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Phys.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37560" y="3566160"/>
            <a:ext cx="16459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Client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F2A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⇄ Server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874520" y="608076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30" i="1" dirty="0">
                <a:solidFill>
                  <a:srgbClr val="5C65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Navy = request (down)   |   Coral = response (up)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7589520" y="1554480"/>
            <a:ext cx="4023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0E7C7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If a layer fails: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589520" y="1920240"/>
            <a:ext cx="41148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22222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•  App: no page request possible</a:t>
            </a:r>
            <a:endParaRPr lang="en-US" sz="960" dirty="0"/>
          </a:p>
        </p:txBody>
      </p:sp>
      <p:sp>
        <p:nvSpPr>
          <p:cNvPr id="30" name="Text 28"/>
          <p:cNvSpPr/>
          <p:nvPr/>
        </p:nvSpPr>
        <p:spPr>
          <a:xfrm>
            <a:off x="7589520" y="2286000"/>
            <a:ext cx="41148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22222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•  Pres.: data unreadable/insecure</a:t>
            </a:r>
            <a:endParaRPr lang="en-US" sz="960" dirty="0"/>
          </a:p>
        </p:txBody>
      </p:sp>
      <p:sp>
        <p:nvSpPr>
          <p:cNvPr id="31" name="Text 29"/>
          <p:cNvSpPr/>
          <p:nvPr/>
        </p:nvSpPr>
        <p:spPr>
          <a:xfrm>
            <a:off x="7589520" y="2651760"/>
            <a:ext cx="41148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22222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•  Sess.: session breaks</a:t>
            </a:r>
            <a:endParaRPr lang="en-US" sz="960" dirty="0"/>
          </a:p>
        </p:txBody>
      </p:sp>
      <p:sp>
        <p:nvSpPr>
          <p:cNvPr id="32" name="Text 30"/>
          <p:cNvSpPr/>
          <p:nvPr/>
        </p:nvSpPr>
        <p:spPr>
          <a:xfrm>
            <a:off x="7589520" y="3017520"/>
            <a:ext cx="41148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22222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•  Trans.: data loss, page won't load</a:t>
            </a:r>
            <a:endParaRPr lang="en-US" sz="960" dirty="0"/>
          </a:p>
        </p:txBody>
      </p:sp>
      <p:sp>
        <p:nvSpPr>
          <p:cNvPr id="33" name="Text 31"/>
          <p:cNvSpPr/>
          <p:nvPr/>
        </p:nvSpPr>
        <p:spPr>
          <a:xfrm>
            <a:off x="7589520" y="3383280"/>
            <a:ext cx="41148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22222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•  Net.: site unreachable</a:t>
            </a:r>
            <a:endParaRPr lang="en-US" sz="960" dirty="0"/>
          </a:p>
        </p:txBody>
      </p:sp>
      <p:sp>
        <p:nvSpPr>
          <p:cNvPr id="34" name="Text 32"/>
          <p:cNvSpPr/>
          <p:nvPr/>
        </p:nvSpPr>
        <p:spPr>
          <a:xfrm>
            <a:off x="7589520" y="3749040"/>
            <a:ext cx="41148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22222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•  D.Link: local delivery corrupted</a:t>
            </a:r>
            <a:endParaRPr lang="en-US" sz="960" dirty="0"/>
          </a:p>
        </p:txBody>
      </p:sp>
      <p:sp>
        <p:nvSpPr>
          <p:cNvPr id="35" name="Text 33"/>
          <p:cNvSpPr/>
          <p:nvPr/>
        </p:nvSpPr>
        <p:spPr>
          <a:xfrm>
            <a:off x="7589520" y="4114800"/>
            <a:ext cx="41148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22222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•  Phys.: no connection at all</a:t>
            </a:r>
            <a:endParaRPr lang="en-US" sz="960" dirty="0"/>
          </a:p>
        </p:txBody>
      </p:sp>
      <p:sp>
        <p:nvSpPr>
          <p:cNvPr id="36" name="Text 3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5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54864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Question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1F2A4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Troubleshooting Using the Concept Map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5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Given: Physical ✓ → Data Link ✓ → Network ✗ → Transport ✗ → Application ✗   |   Structure: horizontal checklist ladder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68780" y="3726180"/>
            <a:ext cx="10492740" cy="3726180"/>
          </a:xfrm>
          <a:prstGeom prst="line">
            <a:avLst/>
          </a:prstGeom>
          <a:noFill/>
          <a:ln w="38100">
            <a:solidFill>
              <a:srgbClr val="DCE1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329184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5C4B99"/>
          </a:solidFill>
        </p:spPr>
      </p:sp>
      <p:sp>
        <p:nvSpPr>
          <p:cNvPr id="7" name="Text 5"/>
          <p:cNvSpPr/>
          <p:nvPr/>
        </p:nvSpPr>
        <p:spPr>
          <a:xfrm>
            <a:off x="685800" y="3291840"/>
            <a:ext cx="196596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1. Physical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514600"/>
            <a:ext cx="1965960" cy="502920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25400">
            <a:solidFill>
              <a:srgbClr val="1E84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14600"/>
            <a:ext cx="1965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✓ OK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68780" y="3017520"/>
            <a:ext cx="0" cy="274320"/>
          </a:xfrm>
          <a:prstGeom prst="line">
            <a:avLst/>
          </a:prstGeom>
          <a:noFill/>
          <a:ln w="20320">
            <a:solidFill>
              <a:srgbClr val="1E8449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94360" y="4297680"/>
            <a:ext cx="21488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5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Cable / Wi-Fi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C65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confirmed working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891790" y="329184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1B998B"/>
          </a:solidFill>
        </p:spPr>
      </p:sp>
      <p:sp>
        <p:nvSpPr>
          <p:cNvPr id="13" name="Text 11"/>
          <p:cNvSpPr/>
          <p:nvPr/>
        </p:nvSpPr>
        <p:spPr>
          <a:xfrm>
            <a:off x="2891790" y="3291840"/>
            <a:ext cx="196596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2. Data Link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891790" y="2514600"/>
            <a:ext cx="1965960" cy="502920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25400">
            <a:solidFill>
              <a:srgbClr val="1E84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91790" y="2514600"/>
            <a:ext cx="1965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✓ OK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74770" y="3017520"/>
            <a:ext cx="0" cy="274320"/>
          </a:xfrm>
          <a:prstGeom prst="line">
            <a:avLst/>
          </a:prstGeom>
          <a:noFill/>
          <a:ln w="20320">
            <a:solidFill>
              <a:srgbClr val="1E8449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2800350" y="4297680"/>
            <a:ext cx="21488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5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Local frames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C65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delivered correctly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97780" y="329184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D97904"/>
          </a:solidFill>
          <a:ln w="31750">
            <a:solidFill>
              <a:srgbClr val="8B5E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97780" y="3291840"/>
            <a:ext cx="196596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3. Network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97780" y="2514600"/>
            <a:ext cx="1965960" cy="502920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25400">
            <a:solidFill>
              <a:srgbClr val="D9790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97780" y="2514600"/>
            <a:ext cx="1965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90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✖ ROOT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80760" y="3017520"/>
            <a:ext cx="0" cy="274320"/>
          </a:xfrm>
          <a:prstGeom prst="line">
            <a:avLst/>
          </a:prstGeom>
          <a:noFill/>
          <a:ln w="20320">
            <a:solidFill>
              <a:srgbClr val="D97904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5006340" y="4297680"/>
            <a:ext cx="21488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5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IP/routing broken —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C65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check gateway/subnet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03770" y="329184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2B134"/>
          </a:solidFill>
        </p:spPr>
      </p:sp>
      <p:sp>
        <p:nvSpPr>
          <p:cNvPr id="25" name="Text 23"/>
          <p:cNvSpPr/>
          <p:nvPr/>
        </p:nvSpPr>
        <p:spPr>
          <a:xfrm>
            <a:off x="7303770" y="3291840"/>
            <a:ext cx="196596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4. Transport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03770" y="2514600"/>
            <a:ext cx="1965960" cy="502920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25400">
            <a:solidFill>
              <a:srgbClr val="B03A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03770" y="2514600"/>
            <a:ext cx="1965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3A2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✗ FAILS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86750" y="3017520"/>
            <a:ext cx="0" cy="274320"/>
          </a:xfrm>
          <a:prstGeom prst="line">
            <a:avLst/>
          </a:prstGeom>
          <a:noFill/>
          <a:ln w="20320">
            <a:solidFill>
              <a:srgbClr val="B03A2E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7212330" y="4297680"/>
            <a:ext cx="21488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5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No segments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C65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delivered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509760" y="329184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6A4C93"/>
          </a:solidFill>
        </p:spPr>
      </p:sp>
      <p:sp>
        <p:nvSpPr>
          <p:cNvPr id="31" name="Text 29"/>
          <p:cNvSpPr/>
          <p:nvPr/>
        </p:nvSpPr>
        <p:spPr>
          <a:xfrm>
            <a:off x="9509760" y="3291840"/>
            <a:ext cx="196596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5. Application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509760" y="2514600"/>
            <a:ext cx="1965960" cy="502920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25400">
            <a:solidFill>
              <a:srgbClr val="B03A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09760" y="2514600"/>
            <a:ext cx="1965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3A2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✗ FAILS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492740" y="3017520"/>
            <a:ext cx="0" cy="274320"/>
          </a:xfrm>
          <a:prstGeom prst="line">
            <a:avLst/>
          </a:prstGeom>
          <a:noFill/>
          <a:ln w="20320">
            <a:solidFill>
              <a:srgbClr val="B03A2E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9418320" y="4297680"/>
            <a:ext cx="21488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5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User sees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C65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failure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463040" y="5257800"/>
            <a:ext cx="9235440" cy="1005840"/>
          </a:xfrm>
          <a:prstGeom prst="roundRect">
            <a:avLst>
              <a:gd name="adj" fmla="val 7273"/>
            </a:avLst>
          </a:prstGeom>
          <a:solidFill>
            <a:srgbClr val="F4F6F8"/>
          </a:solidFill>
          <a:ln w="12700">
            <a:solidFill>
              <a:srgbClr val="DCE1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45920" y="5367528"/>
            <a:ext cx="88696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E7C7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Root-cause logic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664208" y="5779008"/>
            <a:ext cx="82296" cy="82296"/>
          </a:xfrm>
          <a:prstGeom prst="ellipse">
            <a:avLst/>
          </a:prstGeom>
          <a:solidFill>
            <a:srgbClr val="3A6EA5"/>
          </a:solidFill>
        </p:spPr>
      </p:sp>
      <p:sp>
        <p:nvSpPr>
          <p:cNvPr id="39" name="Text 37"/>
          <p:cNvSpPr/>
          <p:nvPr/>
        </p:nvSpPr>
        <p:spPr>
          <a:xfrm>
            <a:off x="1847088" y="5641848"/>
            <a:ext cx="864108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22222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Physical &amp;amp; Data Link confirmed OK; Network is the first failing layer → root cause. Transport &amp;amp; Application fail only as a downstream consequence — a bottom-up check narrows the fault fast.</a:t>
            </a:r>
            <a:endParaRPr lang="en-US" sz="1020" dirty="0"/>
          </a:p>
        </p:txBody>
      </p:sp>
      <p:sp>
        <p:nvSpPr>
          <p:cNvPr id="40" name="Text 3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5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3650</Words>
  <Application>WPS Presentation</Application>
  <PresentationFormat>On-screen Show (16:9)</PresentationFormat>
  <Paragraphs>286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SimSun</vt:lpstr>
      <vt:lpstr>Wingdings</vt:lpstr>
      <vt:lpstr>Times New Roman</vt:lpstr>
      <vt:lpstr>Times New Roman</vt:lpstr>
      <vt:lpstr>Times New Roman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Uma Nasina</cp:lastModifiedBy>
  <cp:revision>2</cp:revision>
  <dcterms:created xsi:type="dcterms:W3CDTF">2026-07-21T05:58:00Z</dcterms:created>
  <dcterms:modified xsi:type="dcterms:W3CDTF">2026-07-21T17:23:05Z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DAF75C8011064180BAB529603254ABC4_12</vt:lpwstr>
  </property>
</Properties>
</file>